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strument Sans Medium" panose="020B0604020202020204" charset="0"/>
      <p:regular r:id="rId23"/>
    </p:embeddedFon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D5FA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83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30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966" y="0"/>
            <a:ext cx="5578434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2154" y="29921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Members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93790" y="334649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29070" y="3970198"/>
            <a:ext cx="495692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Mo'men Aref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1129070" y="470725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Marley Medhat</a:t>
            </a:r>
            <a:endParaRPr lang="en-US" sz="3550" dirty="0"/>
          </a:p>
        </p:txBody>
      </p:sp>
      <p:sp>
        <p:nvSpPr>
          <p:cNvPr id="7" name="Text 4"/>
          <p:cNvSpPr/>
          <p:nvPr/>
        </p:nvSpPr>
        <p:spPr>
          <a:xfrm>
            <a:off x="1129070" y="5364956"/>
            <a:ext cx="476373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Ramez Asham</a:t>
            </a:r>
            <a:endParaRPr lang="en-US" sz="35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79B3D-E5F9-2BF7-0D24-21A30667ED85}"/>
              </a:ext>
            </a:extLst>
          </p:cNvPr>
          <p:cNvSpPr txBox="1"/>
          <p:nvPr/>
        </p:nvSpPr>
        <p:spPr>
          <a:xfrm>
            <a:off x="1129070" y="723028"/>
            <a:ext cx="731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 err="1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Khamseena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11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Khamseena Programming Language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588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Tagline: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"Code it simple, brew it smooth!"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57688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Khamseena is a beginner-friendly programming language inspired by the Egyptian "khamseena tea" – small, simple, and effective. It uses everyday English words related to making tea and simple actions to make programming intuitive and fun for kids and beginners.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4919"/>
            <a:ext cx="9809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Khamseena Keywords: Brewing Code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17326"/>
            <a:ext cx="6407944" cy="1367909"/>
          </a:xfrm>
          <a:prstGeom prst="roundRect">
            <a:avLst>
              <a:gd name="adj" fmla="val 1232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41732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674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16503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start (main)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17326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241732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2674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recipe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16503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definition (function/def)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012049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310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75976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 variable (int)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012049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75976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Float/Double variable (float/double)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606772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310" y="560677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2524" y="5864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label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2524" y="635448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 variable (string)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606772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98067" y="560677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7282" y="5864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switch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7282" y="635448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 variable (boolean)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4919"/>
            <a:ext cx="10225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Khamseena Keywords: Actions &amp; Logic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17326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41732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674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16503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Output/Print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17326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241732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2674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pour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16503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Input/Read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012049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310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taste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75976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condition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012049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retaste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75976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 condition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606772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310" y="560677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2524" y="5864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stir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2524" y="635448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loop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606772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98067" y="560677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7282" y="5864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mix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7282" y="635448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loop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114365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Khamseena Keywords: Advanced &amp; Utilities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3214688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62400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value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14688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86482" y="3214688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65696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fetch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962400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library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14688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9653" y="3214688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88868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# note: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962400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line comment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09411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310" y="4809411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55712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value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809411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86482" y="4809411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65696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55712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value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67901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Types in Khamseena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87685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343" y="353901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53901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 number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99997" y="353901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score = 10;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343" y="418933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418933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 number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99997" y="41893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price = 25.5;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343" y="483965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483965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string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99997" y="483965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name = "Ahmed";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343" y="54899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48997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 value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99997" y="548997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ready = hot;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2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3298984"/>
            <a:ext cx="6843951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Example: Hello World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6642" y="4298871"/>
            <a:ext cx="13117116" cy="2399348"/>
          </a:xfrm>
          <a:prstGeom prst="roundRect">
            <a:avLst>
              <a:gd name="adj" fmla="val 1352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45927" y="4298871"/>
            <a:ext cx="13138547" cy="2399348"/>
          </a:xfrm>
          <a:prstGeom prst="roundRect">
            <a:avLst>
              <a:gd name="adj" fmla="val 1352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2025" y="4460915"/>
            <a:ext cx="12706350" cy="2075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 basics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recipe brew()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 "Welcome to Khamseena!";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 0;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6642" y="6941344"/>
            <a:ext cx="13117116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simple program fetches basic functionalities, defines the main "brew" function, serves a welcome message, and then delivers 0 to indicate successful execution.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420" y="544830"/>
            <a:ext cx="6974443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Example: Variables &amp; I/O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3420" y="1461135"/>
            <a:ext cx="7757160" cy="5368290"/>
          </a:xfrm>
          <a:prstGeom prst="roundRect">
            <a:avLst>
              <a:gd name="adj" fmla="val 554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83538" y="1461135"/>
            <a:ext cx="7776924" cy="5368290"/>
          </a:xfrm>
          <a:prstGeom prst="roundRect">
            <a:avLst>
              <a:gd name="adj" fmla="val 554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1658" y="1609725"/>
            <a:ext cx="7380684" cy="507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 basics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recipe brew() {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name;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age;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 "What's your name? ";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pour name;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 "How old are you? ";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pour age;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 name + " is " + age + " years old";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 0;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3420" y="7052310"/>
            <a:ext cx="7757160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example demonstrates declaring variables, taking user input with </a:t>
            </a: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pour</a:t>
            </a: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displaying combined output using </a:t>
            </a:r>
            <a:r>
              <a:rPr lang="en-US" sz="15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</a:t>
            </a: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7443" y="566857"/>
            <a:ext cx="7701915" cy="128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Example: Conditions (taste &amp; retaste)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07443" y="2163366"/>
            <a:ext cx="7701915" cy="4593193"/>
          </a:xfrm>
          <a:prstGeom prst="roundRect">
            <a:avLst>
              <a:gd name="adj" fmla="val 673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97203" y="2163366"/>
            <a:ext cx="7722394" cy="4593193"/>
          </a:xfrm>
          <a:prstGeom prst="roundRect">
            <a:avLst>
              <a:gd name="adj" fmla="val 673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3181" y="2317790"/>
            <a:ext cx="7310437" cy="428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 basics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recipe brew() {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grade = 85;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taste (grade &gt;= 50) {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 "Congratulations! You passed";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retaste {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 "Try again next time";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 0;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07443" y="6988254"/>
            <a:ext cx="7701915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taste</a:t>
            </a: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keyword checks a condition, executing the first block if true. If false</a:t>
            </a:r>
            <a:r>
              <a:rPr lang="en-US" sz="160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retaste</a:t>
            </a:r>
            <a:r>
              <a:rPr lang="en-US" sz="160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an alternative path.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087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359" y="2546390"/>
            <a:ext cx="6394966" cy="521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Example: Loops (stir &amp; mix)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84359" y="3485436"/>
            <a:ext cx="2087285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While Loop (stir)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4359" y="3934063"/>
            <a:ext cx="6527125" cy="3189208"/>
          </a:xfrm>
          <a:prstGeom prst="roundRect">
            <a:avLst>
              <a:gd name="adj" fmla="val 785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6024" y="3934063"/>
            <a:ext cx="6543794" cy="3189208"/>
          </a:xfrm>
          <a:prstGeom prst="roundRect">
            <a:avLst>
              <a:gd name="adj" fmla="val 785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2950" y="4059198"/>
            <a:ext cx="6209943" cy="293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 basics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recipe brew() {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counter = 0;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stir (counter &lt; 5) {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 "Count: " + counter;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counter = counter + 1;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 0;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26536" y="3485436"/>
            <a:ext cx="2087285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 Loop (mix)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26536" y="3934063"/>
            <a:ext cx="6527125" cy="2387679"/>
          </a:xfrm>
          <a:prstGeom prst="roundRect">
            <a:avLst>
              <a:gd name="adj" fmla="val 1049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18202" y="3934063"/>
            <a:ext cx="6543794" cy="2387679"/>
          </a:xfrm>
          <a:prstGeom prst="roundRect">
            <a:avLst>
              <a:gd name="adj" fmla="val 1049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85127" y="4059198"/>
            <a:ext cx="6209943" cy="2137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 basics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recipe brew() {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mix (count i = 1; i &lt;= 3; i = i + 1) {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 "Round number " + i;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 0;</a:t>
            </a:r>
            <a:endParaRPr lang="en-US" sz="13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4359" y="7498794"/>
            <a:ext cx="13461683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stir</a:t>
            </a: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repeats actions while a condition is true, like stirring tea. </a:t>
            </a:r>
            <a:r>
              <a:rPr lang="en-US" sz="13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mix</a:t>
            </a: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iterates a set number of times, similar to a for loop.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880925F-9D11-8A76-43B0-28600C1D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0"/>
            <a:ext cx="9906000" cy="82296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269FE2C-C105-CD69-4592-D399AC27E89C}"/>
              </a:ext>
            </a:extLst>
          </p:cNvPr>
          <p:cNvSpPr/>
          <p:nvPr/>
        </p:nvSpPr>
        <p:spPr>
          <a:xfrm>
            <a:off x="454565" y="450164"/>
            <a:ext cx="4054244" cy="1290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buNone/>
            </a:pPr>
            <a:r>
              <a:rPr lang="en-US" sz="9600" b="1" dirty="0">
                <a:solidFill>
                  <a:srgbClr val="EFD5FA"/>
                </a:solidFill>
              </a:rPr>
              <a:t>Scanner</a:t>
            </a:r>
            <a:endParaRPr lang="en-US" sz="9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FE09D-A51E-2608-F10A-5F2F7E32BA22}"/>
              </a:ext>
            </a:extLst>
          </p:cNvPr>
          <p:cNvSpPr txBox="1"/>
          <p:nvPr/>
        </p:nvSpPr>
        <p:spPr>
          <a:xfrm>
            <a:off x="91440" y="2499360"/>
            <a:ext cx="5090159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EFD5FA"/>
                </a:solidFill>
              </a:rPr>
              <a:t>Scanner/Lexical Analyzer for </a:t>
            </a:r>
            <a:r>
              <a:rPr lang="en-US" sz="2800" b="1" dirty="0" err="1">
                <a:solidFill>
                  <a:srgbClr val="EFD5FA"/>
                </a:solidFill>
              </a:rPr>
              <a:t>Khamseena</a:t>
            </a:r>
            <a:r>
              <a:rPr lang="en-US" sz="2800" b="1" dirty="0">
                <a:solidFill>
                  <a:srgbClr val="EFD5FA"/>
                </a:solidFill>
              </a:rPr>
              <a:t> Programming Language</a:t>
            </a:r>
          </a:p>
          <a:p>
            <a:r>
              <a:rPr lang="en-US" sz="2800" b="1" dirty="0">
                <a:solidFill>
                  <a:srgbClr val="EFD5FA"/>
                </a:solidFill>
              </a:rPr>
              <a:t>Converts source code into a stream of tokens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75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2CC7A6B-790A-DA20-F53E-DD3EB5F4E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60" y="0"/>
            <a:ext cx="9895840" cy="8229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4AF087-EE3A-5B9C-7511-5D85AE30BB0A}"/>
              </a:ext>
            </a:extLst>
          </p:cNvPr>
          <p:cNvSpPr txBox="1"/>
          <p:nvPr/>
        </p:nvSpPr>
        <p:spPr>
          <a:xfrm>
            <a:off x="0" y="2092960"/>
            <a:ext cx="47345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FD5FA"/>
                </a:solidFill>
              </a:rPr>
              <a:t>The phase of the compiler that checks if the code follows the grammatical rules of the programming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46E8F-E6EA-1BFF-C276-0A2916A828A3}"/>
              </a:ext>
            </a:extLst>
          </p:cNvPr>
          <p:cNvSpPr txBox="1"/>
          <p:nvPr/>
        </p:nvSpPr>
        <p:spPr>
          <a:xfrm>
            <a:off x="721360" y="724654"/>
            <a:ext cx="2580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EFD5FA"/>
                </a:solidFill>
              </a:rPr>
              <a:t>Parser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23570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DCB40E6-385B-ED83-7293-90E0F9012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0"/>
            <a:ext cx="9834880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259FB4-7AD9-5D5C-A0BB-1C51B37639C0}"/>
              </a:ext>
            </a:extLst>
          </p:cNvPr>
          <p:cNvSpPr txBox="1"/>
          <p:nvPr/>
        </p:nvSpPr>
        <p:spPr>
          <a:xfrm>
            <a:off x="0" y="506829"/>
            <a:ext cx="491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EFD5FA"/>
                </a:solidFill>
              </a:rPr>
              <a:t>Semantic Analyzer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2E631-47C7-490F-04D2-3CC97814E837}"/>
              </a:ext>
            </a:extLst>
          </p:cNvPr>
          <p:cNvSpPr txBox="1"/>
          <p:nvPr/>
        </p:nvSpPr>
        <p:spPr>
          <a:xfrm>
            <a:off x="0" y="2092960"/>
            <a:ext cx="4795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FD5FA"/>
                </a:solidFill>
              </a:rPr>
              <a:t>The phase of the compiler that checks if the code is logically consistent and meaningful, even if it is grammatically correct.</a:t>
            </a:r>
          </a:p>
        </p:txBody>
      </p:sp>
    </p:spTree>
    <p:extLst>
      <p:ext uri="{BB962C8B-B14F-4D97-AF65-F5344CB8AC3E}">
        <p14:creationId xmlns:p14="http://schemas.microsoft.com/office/powerpoint/2010/main" val="2696193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D774C5-28B1-3609-ED4E-8F601BF1B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87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7C8D84-D692-7113-9553-5FB4BE41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54502" cy="82296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A7E411-1071-4D2C-835D-EB007236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557" y="0"/>
            <a:ext cx="812777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28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CA170C-8494-D109-EAAF-566CBF012ED4}"/>
              </a:ext>
            </a:extLst>
          </p:cNvPr>
          <p:cNvSpPr/>
          <p:nvPr/>
        </p:nvSpPr>
        <p:spPr>
          <a:xfrm>
            <a:off x="9962839" y="3211950"/>
            <a:ext cx="3477970" cy="1290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buNone/>
            </a:pPr>
            <a:r>
              <a:rPr lang="en-US" sz="9600" b="1" dirty="0">
                <a:solidFill>
                  <a:srgbClr val="EFD5FA"/>
                </a:solidFill>
              </a:rPr>
              <a:t>Thanks</a:t>
            </a:r>
            <a:endParaRPr lang="en-US" sz="9600" b="1" dirty="0"/>
          </a:p>
        </p:txBody>
      </p:sp>
      <p:pic>
        <p:nvPicPr>
          <p:cNvPr id="4" name="Picture 3" descr="A computer with a glass of tea and a keyboard&#10;&#10;AI-generated content may be incorrect.">
            <a:extLst>
              <a:ext uri="{FF2B5EF4-FFF2-40B4-BE49-F238E27FC236}">
                <a16:creationId xmlns:a16="http://schemas.microsoft.com/office/drawing/2014/main" id="{E0A0E3E7-70FF-FD31-4B0E-BCC8564EC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41" y="390908"/>
            <a:ext cx="9212743" cy="7466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98161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621</Words>
  <Application>Microsoft Office PowerPoint</Application>
  <PresentationFormat>Custom</PresentationFormat>
  <Paragraphs>140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Consolas</vt:lpstr>
      <vt:lpstr>Inter</vt:lpstr>
      <vt:lpstr>Arial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mo'men aref</cp:lastModifiedBy>
  <cp:revision>11</cp:revision>
  <dcterms:created xsi:type="dcterms:W3CDTF">2025-12-12T00:12:30Z</dcterms:created>
  <dcterms:modified xsi:type="dcterms:W3CDTF">2025-12-14T11:51:33Z</dcterms:modified>
</cp:coreProperties>
</file>